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011680"/>
            <a:ext cx="3200400" cy="3200400"/>
          </a:xfrm>
          <a:prstGeom prst="ellipse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02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SUBMISSION · AGENTIC AI SYSTEMS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9144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Chatbot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Multi-Format Document QA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Model Context Protocol (MCP)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" y="3127248"/>
            <a:ext cx="5029200" cy="36576"/>
          </a:xfrm>
          <a:prstGeom prst="rect">
            <a:avLst/>
          </a:prstGeom>
          <a:solidFill>
            <a:srgbClr val="2A313B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329184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6366F1">
              <a:alpha val="1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2918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0" y="329184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32918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977640" y="329184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32918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0" y="329184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32918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60920" y="329184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0920" y="32918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Bus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Specialized Agents · Vector + BM25 Hybrid Retrieval · RAGAS Evaluation · Real-time MCP Tracing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Building?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1508760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1508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813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Multi-Format Docs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47088"/>
            <a:ext cx="3749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upload PDFs, PPTX, CSV, XLSX, DOCX, TXT &amp; Markdown — each needing format-specific parsing.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4114800" cy="1508760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371600"/>
            <a:ext cx="54864" cy="15087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813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Agentic Architecture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847088"/>
            <a:ext cx="3749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specialized agents collaborate — Ingestion, Retrieval, LLM Response — coordinated via LangGraph.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114800" cy="1508760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63240"/>
            <a:ext cx="54864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729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Model Context Protocol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538728"/>
            <a:ext cx="3749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communicates through structured MCP messages with trace IDs, enabling full audit &amp; debugging.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063240"/>
            <a:ext cx="4114800" cy="1508760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3063240"/>
            <a:ext cx="54864" cy="15087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1729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Accurate QA with Citations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538728"/>
            <a:ext cx="3749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(Vector + BM25 + RRF + Rerank) ensures answers are grounded and source-cited.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773168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PDF  ✅ PPTX  ✅ CSV  ✅ XLSX  ✅ DOCX  ✅ TXT / Markdown  — All formats supported out of the box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Agent-Based 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8595360" cy="640080"/>
          </a:xfrm>
          <a:prstGeom prst="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4358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FRONTEND — React/HTML · Upload · Chat · MCP Trace Viewer · RAGAS Dashboard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34840" y="1828800"/>
            <a:ext cx="0" cy="3657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18745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HTTP/REST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2194560"/>
            <a:ext cx="8595360" cy="594360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FASTAPI SERVER — /upload  /chat  /evaluate  /reset  endpoints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2788920"/>
            <a:ext cx="0" cy="3200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3108960"/>
            <a:ext cx="8595360" cy="621792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455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🕸️  COORDINATORAGENT — LangGraph State Machine (ingest | query | evaluate routes)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3840480"/>
            <a:ext cx="2706624" cy="713232"/>
          </a:xfrm>
          <a:prstGeom prst="rect">
            <a:avLst/>
          </a:prstGeom>
          <a:solidFill>
            <a:srgbClr val="10B981">
              <a:alpha val="18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385876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IngestionAgent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3192" y="4160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· Chunk · Embed · Store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72968" y="3840480"/>
            <a:ext cx="2706624" cy="713232"/>
          </a:xfrm>
          <a:prstGeom prst="rect">
            <a:avLst/>
          </a:prstGeom>
          <a:solidFill>
            <a:srgbClr val="38BDF8">
              <a:alpha val="18000"/>
            </a:srgbClr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385876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RetrievalAgent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46120" y="4160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· BM25 · RRF · Rerank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25896" y="3840480"/>
            <a:ext cx="2706624" cy="713232"/>
          </a:xfrm>
          <a:prstGeom prst="rect">
            <a:avLst/>
          </a:prstGeom>
          <a:solidFill>
            <a:srgbClr val="6366F1">
              <a:alpha val="18000"/>
            </a:srgbClr>
          </a:solidFill>
          <a:ln w="1524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9048" y="385876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LLMResponseAgent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99048" y="4160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· Prompt · Generate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4645152"/>
            <a:ext cx="8595360" cy="384048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66344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MCP BUS — In-Memory Message Bus · Trace ID per Request · Full Audit Trail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MCP? The Communication Backbone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114800" cy="804672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54864" cy="8046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350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Full Observability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276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interaction is stamped with a trace_id. The frontend renders the complete message flow in real-time.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4114800" cy="804672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212848"/>
            <a:ext cx="54864" cy="8046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677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Decoupled Agents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5603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don't call each other directly. They publish to the MCP bus — enabling easy replacement or scaling of any agent.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145536"/>
            <a:ext cx="4114800" cy="804672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145536"/>
            <a:ext cx="54864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Structured Contracts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4930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MessageType enums (INGEST_REQUEST, RETRIEVAL_RESULT, etc.) enforce strict inter-agent contracts.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078224"/>
            <a:ext cx="4114800" cy="804672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4078224"/>
            <a:ext cx="54864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1330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 Debug-Friendly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442569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trace panel shows sender → receiver → type → payload for every message, making bugs trivial to locate.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1234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Types on the MCP Bus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627632"/>
            <a:ext cx="3931920" cy="347472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6642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INGEST_REQUEST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49440" y="168249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→ IngestionAgent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2048256"/>
            <a:ext cx="3931920" cy="347472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0848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INGEST_RESULT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949440" y="210312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IngestionAgent → Coordinator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2468880"/>
            <a:ext cx="3931920" cy="347472"/>
          </a:xfrm>
          <a:prstGeom prst="rect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5054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RETRIEVAL_REQUEST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49440" y="252374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→ RetrievalAgent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2889504"/>
            <a:ext cx="3931920" cy="347472"/>
          </a:xfrm>
          <a:prstGeom prst="rect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9260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RETRIEVAL_RESULT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49440" y="294436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RetrievalAgent → LLMAgent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54880" y="3310128"/>
            <a:ext cx="3931920" cy="347472"/>
          </a:xfrm>
          <a:prstGeom prst="rect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3467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LLM_REQUEST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949440" y="336499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→ LLMAgent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54880" y="3730752"/>
            <a:ext cx="3931920" cy="347472"/>
          </a:xfrm>
          <a:prstGeom prst="rect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7673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LLM_RESPONSE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49440" y="378561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LLMAgent → Coordinator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54880" y="4151376"/>
            <a:ext cx="3931920" cy="347472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41879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EVAL_REQUEST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949440" y="420624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→ EvalAgent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54880" y="4572000"/>
            <a:ext cx="3931920" cy="347472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46085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EVAL_RESULT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949440" y="462686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EvalAgent → Coordinator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SCHEMA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Message Contract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023360" cy="3383280"/>
          </a:xfrm>
          <a:prstGeom prst="rect">
            <a:avLst/>
          </a:prstGeom>
          <a:solidFill>
            <a:srgbClr val="161A20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5331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Query Message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82496"/>
            <a:ext cx="4023360" cy="27432"/>
          </a:xfrm>
          <a:prstGeom prst="rect">
            <a:avLst/>
          </a:prstGeom>
          <a:solidFill>
            <a:srgbClr val="2A313B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"sender":   "CoordinatorAgent",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"receiver": "RetrievalAgent",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    "RETRIEVAL_REQUEST",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"trace_id": "rag-a1b2c3d4",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"timestamp":"2025-01-15T10:32:00Z",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"payload":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"query": "What KPIs were tracked in Q1?",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"top_k": 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4069080" cy="3383280"/>
          </a:xfrm>
          <a:prstGeom prst="rect">
            <a:avLst/>
          </a:prstGeom>
          <a:solidFill>
            <a:srgbClr val="161A20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64608" y="135331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Retrieval Result Message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682496"/>
            <a:ext cx="4069080" cy="27432"/>
          </a:xfrm>
          <a:prstGeom prst="rect">
            <a:avLst/>
          </a:prstGeom>
          <a:solidFill>
            <a:srgbClr val="2A313B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737360"/>
            <a:ext cx="38862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"sender":   "RetrievalAgent",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"receiver": "LLMResponseAgent",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    "RETRIEVAL_RESULT",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"trace_id": "rag-a1b2c3d4",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"timestamp":"2025-01-15T10:32:01Z",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"payload":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"query": "What KPIs were tracked in Q1?",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"top_chunks": ["slide 3: revenue up 14%...",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"doc: Q1 KPI dashboard..."],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"scores": [0.0108, 0.0095],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"chunk_count": 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4782312"/>
            <a:ext cx="1298448" cy="256032"/>
          </a:xfrm>
          <a:prstGeom prst="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782312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83080" y="4782312"/>
            <a:ext cx="1298448" cy="256032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83080" y="4782312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4782312"/>
            <a:ext cx="1298448" cy="256032"/>
          </a:xfrm>
          <a:prstGeom prst="rect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4782312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4782312"/>
            <a:ext cx="1298448" cy="2560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4782312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trace_id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35040" y="4782312"/>
            <a:ext cx="1298448" cy="256032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4782312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52360" y="4782312"/>
            <a:ext cx="1298448" cy="256032"/>
          </a:xfrm>
          <a:prstGeom prst="rect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4782312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Specialized Agents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261872"/>
            <a:ext cx="2743200" cy="1783080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61872"/>
            <a:ext cx="274320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533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🕸️  CoordinatorAgent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1700784"/>
            <a:ext cx="777240" cy="246888"/>
          </a:xfrm>
          <a:prstGeom prst="roundRect">
            <a:avLst>
              <a:gd name="adj" fmla="val 18519"/>
            </a:avLst>
          </a:prstGeom>
          <a:solidFill>
            <a:srgbClr val="A78BFA">
              <a:alpha val="22000"/>
            </a:srgbClr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00784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257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 machine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258568"/>
            <a:ext cx="257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ingest | query | evaluate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505456"/>
            <a:ext cx="257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Initializes trace_id per request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752344"/>
            <a:ext cx="257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results from all agents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64408" y="1261872"/>
            <a:ext cx="2743200" cy="1783080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1261872"/>
            <a:ext cx="2743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3533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IngestionAgent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355848" y="1700784"/>
            <a:ext cx="777240" cy="246888"/>
          </a:xfrm>
          <a:prstGeom prst="roundRect">
            <a:avLst>
              <a:gd name="adj" fmla="val 18519"/>
            </a:avLst>
          </a:prstGeom>
          <a:solidFill>
            <a:srgbClr val="10B981">
              <a:alpha val="22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1700784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55848" y="2011680"/>
            <a:ext cx="257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file path + filename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55848" y="2258568"/>
            <a:ext cx="257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document_parser.py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55848" y="2505456"/>
            <a:ext cx="257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chunks to neon_store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55848" y="2752344"/>
            <a:ext cx="257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chunks_stored count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08776" y="1261872"/>
            <a:ext cx="2743200" cy="1783080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08776" y="1261872"/>
            <a:ext cx="27432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0216" y="13533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RetrievalAgent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0216" y="1700784"/>
            <a:ext cx="777240" cy="246888"/>
          </a:xfrm>
          <a:prstGeom prst="roundRect">
            <a:avLst>
              <a:gd name="adj" fmla="val 18519"/>
            </a:avLst>
          </a:prstGeom>
          <a:solidFill>
            <a:srgbClr val="38BDF8">
              <a:alpha val="22000"/>
            </a:srgbClr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0216" y="1700784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00216" y="2011680"/>
            <a:ext cx="257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query via Gemini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0216" y="2258568"/>
            <a:ext cx="257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(pgvector cosine)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0216" y="2505456"/>
            <a:ext cx="257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full-text search (ts_rank)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0216" y="2752344"/>
            <a:ext cx="257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fusion + Gemini rerank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227832"/>
            <a:ext cx="2743200" cy="1783080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227832"/>
            <a:ext cx="274320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31927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LLMResponseAgent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11480" y="3666744"/>
            <a:ext cx="777240" cy="246888"/>
          </a:xfrm>
          <a:prstGeom prst="roundRect">
            <a:avLst>
              <a:gd name="adj" fmla="val 18519"/>
            </a:avLst>
          </a:prstGeom>
          <a:solidFill>
            <a:srgbClr val="6366F1">
              <a:alpha val="22000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666744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11480" y="3977640"/>
            <a:ext cx="257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follow-up questions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" y="4224528"/>
            <a:ext cx="257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pronouns via history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1480" y="4471416"/>
            <a:ext cx="257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RAG prompt with citations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1480" y="4718304"/>
            <a:ext cx="257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Gemini 2.5 Flash for answer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64408" y="3227832"/>
            <a:ext cx="2743200" cy="1783080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64408" y="3227832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55848" y="331927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EvaluationAgent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3355848" y="3666744"/>
            <a:ext cx="777240" cy="246888"/>
          </a:xfrm>
          <a:prstGeom prst="roundRect">
            <a:avLst>
              <a:gd name="adj" fmla="val 18519"/>
            </a:avLst>
          </a:prstGeom>
          <a:solidFill>
            <a:srgbClr val="F59E0B">
              <a:alpha val="22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55848" y="3666744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Eval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355848" y="3977640"/>
            <a:ext cx="257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scoring (0-1)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355848" y="4224528"/>
            <a:ext cx="257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Relevancy scoring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355848" y="4471416"/>
            <a:ext cx="257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 scoring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355848" y="4718304"/>
            <a:ext cx="257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Gemini LLM-as-judge call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LangGraph? State Machine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45920" y="1280160"/>
            <a:ext cx="731520" cy="457200"/>
          </a:xfrm>
          <a:prstGeom prst="ellipse">
            <a:avLst/>
          </a:prstGeom>
          <a:solidFill>
            <a:srgbClr val="6B7280">
              <a:alpha val="50000"/>
            </a:srgbClr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1298448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0" y="1737360"/>
            <a:ext cx="0" cy="4114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2148840"/>
            <a:ext cx="1371600" cy="548640"/>
          </a:xfrm>
          <a:prstGeom prst="rect">
            <a:avLst/>
          </a:prstGeom>
          <a:solidFill>
            <a:srgbClr val="A78BFA">
              <a:alpha val="25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16712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route()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_route(state)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11680" y="2697480"/>
            <a:ext cx="-777240" cy="5029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97180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8600" y="320040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10B981">
              <a:alpha val="22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3246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node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11680" y="2697480"/>
            <a:ext cx="640080" cy="5029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83080" y="297180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645920" y="320040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38BDF8">
              <a:alpha val="22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3246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011680" y="2697480"/>
            <a:ext cx="2057400" cy="5029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297180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063240" y="320040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F59E0B">
              <a:alpha val="22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3240" y="3246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51760" y="3840480"/>
            <a:ext cx="0" cy="4114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45920" y="425196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6366F1">
              <a:alpha val="22000"/>
            </a:srgbClr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45920" y="42976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node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68680" y="4224528"/>
            <a:ext cx="640080" cy="365760"/>
          </a:xfrm>
          <a:prstGeom prst="ellipse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24281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0" y="5029200"/>
            <a:ext cx="640080" cy="365760"/>
          </a:xfrm>
          <a:prstGeom prst="ellipse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0" y="50474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03320" y="4224528"/>
            <a:ext cx="640080" cy="365760"/>
          </a:xfrm>
          <a:prstGeom prst="ellipse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03320" y="424281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63440" y="12618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LangGraph?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663440" y="1691640"/>
            <a:ext cx="4114800" cy="749808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1691640"/>
            <a:ext cx="54864" cy="7498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17556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Conditional Routing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864608" y="205740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START node with mode='ingest|query|evaluate' eliminates if-else chains.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2560320"/>
            <a:ext cx="4114800" cy="749808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2560320"/>
            <a:ext cx="54864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26243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Typed State (TypedDict)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864608" y="292608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RAGState carries all inter-node data — no global variables or side channels.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3429000"/>
            <a:ext cx="4114800" cy="749808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3429000"/>
            <a:ext cx="54864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34930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Node Composition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864608" y="379476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becomes a pure function: takes state dict, returns partial update.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4297680"/>
            <a:ext cx="4114800" cy="749808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4297680"/>
            <a:ext cx="5486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64608" y="43616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Thread Safety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4864608" y="466344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manages concurrency; MCP bus uses threading.Lock for trace safety.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PIPELINE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Parsing · Format-Aware Chunking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261872"/>
            <a:ext cx="2788920" cy="1755648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61872"/>
            <a:ext cx="278892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53312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5331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" y="1371600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Parser: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4048" y="1664208"/>
            <a:ext cx="25786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→ extract_text()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Scanned: PyMuPDF render → Gemini Vision OCR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≥80 alpha chars/page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65760" y="2404872"/>
            <a:ext cx="2606040" cy="27432"/>
          </a:xfrm>
          <a:prstGeom prst="rect">
            <a:avLst/>
          </a:prstGeom>
          <a:solidFill>
            <a:srgbClr val="2A313B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468880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📦 Per-page chunks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[source: file.pdf | page N]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18688" y="1261872"/>
            <a:ext cx="2788920" cy="1755648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1261872"/>
            <a:ext cx="27889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0128" y="1353312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35331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87368" y="1371600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Parser: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28416" y="1664208"/>
            <a:ext cx="25786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python-pptx → shape.text_frame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all runs &amp; paragraphs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notes appended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3310128" y="2404872"/>
            <a:ext cx="2606040" cy="27432"/>
          </a:xfrm>
          <a:prstGeom prst="rect">
            <a:avLst/>
          </a:prstGeom>
          <a:solidFill>
            <a:srgbClr val="2A313B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28416" y="2468880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📦 Per-slide chunks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[source: deck.pptx | slide N]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63056" y="1261872"/>
            <a:ext cx="2788920" cy="1755648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63056" y="1261872"/>
            <a:ext cx="27889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54496" y="1353312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54496" y="1353312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31736" y="1371600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272784" y="1664208"/>
            <a:ext cx="25786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pandas.read_csv(dtype=str)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Row-by-row: col=value pairs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nulls &amp; empties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254496" y="2404872"/>
            <a:ext cx="2606040" cy="27432"/>
          </a:xfrm>
          <a:prstGeom prst="rect">
            <a:avLst/>
          </a:prstGeom>
          <a:solidFill>
            <a:srgbClr val="2A313B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2468880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📦 15-row groups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[source: data.csv | sheet1 rows N-M]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3163824"/>
            <a:ext cx="2788920" cy="1755648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163824"/>
            <a:ext cx="27889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255264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55264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3000" y="327355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84048" y="3566160"/>
            <a:ext cx="25786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pandas.ExcelFile → all sheets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Row-by-row: col=value pairs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chunk block per sheet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365760" y="4306824"/>
            <a:ext cx="2606040" cy="27432"/>
          </a:xfrm>
          <a:prstGeom prst="rect">
            <a:avLst/>
          </a:prstGeom>
          <a:solidFill>
            <a:srgbClr val="2A313B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4370832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📦 15-row groups per sheet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[source: file.xlsx | sheet:Name rows N-M]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18688" y="3163824"/>
            <a:ext cx="2788920" cy="1755648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18688" y="3163824"/>
            <a:ext cx="278892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10128" y="3255264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6366F1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10128" y="3255264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087368" y="327355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Parser: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328416" y="3566160"/>
            <a:ext cx="25786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→ paragraphs + tables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rows joined with ' | '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text collected to buffer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3310128" y="4306824"/>
            <a:ext cx="2606040" cy="27432"/>
          </a:xfrm>
          <a:prstGeom prst="rect">
            <a:avLst/>
          </a:prstGeom>
          <a:solidFill>
            <a:srgbClr val="2A313B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28416" y="4370832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📦 Sliding window 600 chars / 80 overlap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[source: file.docx | chunk N]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63056" y="3163824"/>
            <a:ext cx="2788920" cy="1755648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63056" y="3163824"/>
            <a:ext cx="2788920" cy="64008"/>
          </a:xfrm>
          <a:prstGeom prst="rect">
            <a:avLst/>
          </a:prstGeom>
          <a:solidFill>
            <a:srgbClr val="A0A8B4"/>
          </a:solidFill>
          <a:ln w="12700">
            <a:solidFill>
              <a:srgbClr val="A0A8B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54496" y="3255264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A0A8B4">
              <a:alpha val="25000"/>
            </a:srgbClr>
          </a:solidFill>
          <a:ln w="12700">
            <a:solidFill>
              <a:srgbClr val="A0A8B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54496" y="3255264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TXT/MD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031736" y="327355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Parser: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272784" y="3566160"/>
            <a:ext cx="25786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read utf-8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sliding window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 preprocessing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6254496" y="4306824"/>
            <a:ext cx="2606040" cy="27432"/>
          </a:xfrm>
          <a:prstGeom prst="rect">
            <a:avLst/>
          </a:prstGeom>
          <a:solidFill>
            <a:srgbClr val="2A313B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72784" y="4370832"/>
            <a:ext cx="25786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📦 Sliding window 600 chars / 80 overlap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[source: file.txt | chunk N]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· Neon PostgreSQL · pgvector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2070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Pipeline (per chunk):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023360" cy="713232"/>
          </a:xfrm>
          <a:prstGeom prst="rect">
            <a:avLst/>
          </a:prstGeom>
          <a:solidFill>
            <a:srgbClr val="161A20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28216"/>
            <a:ext cx="438912" cy="438912"/>
          </a:xfrm>
          <a:prstGeom prst="ellipse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28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67335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Chunk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947672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[source: file | page N]\nraw chunk text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2313432"/>
            <a:ext cx="0" cy="128016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441448"/>
            <a:ext cx="4023360" cy="713232"/>
          </a:xfrm>
          <a:prstGeom prst="rect">
            <a:avLst/>
          </a:prstGeom>
          <a:solidFill>
            <a:srgbClr val="161A20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69464"/>
            <a:ext cx="438912" cy="438912"/>
          </a:xfrm>
          <a:prstGeom prst="ellipse">
            <a:avLst/>
          </a:prstGeom>
          <a:solidFill>
            <a:srgbClr val="38BDF8">
              <a:alpha val="3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694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5146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Embed 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788920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gemini-embedding-001\n768-dim float vector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" y="3154680"/>
            <a:ext cx="0" cy="128016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282696"/>
            <a:ext cx="4023360" cy="713232"/>
          </a:xfrm>
          <a:prstGeom prst="rect">
            <a:avLst/>
          </a:prstGeom>
          <a:solidFill>
            <a:srgbClr val="161A20"/>
          </a:solidFill>
          <a:ln w="15240">
            <a:solidFill>
              <a:srgbClr val="6366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10712"/>
            <a:ext cx="438912" cy="438912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107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35584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Normalize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630168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/ np.linalg.norm(arr)\nunit sphere projection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6928" y="3995928"/>
            <a:ext cx="0" cy="128016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123944"/>
            <a:ext cx="4023360" cy="713232"/>
          </a:xfrm>
          <a:prstGeom prst="rect">
            <a:avLst/>
          </a:prstGeom>
          <a:solidFill>
            <a:srgbClr val="161A20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251960"/>
            <a:ext cx="438912" cy="438912"/>
          </a:xfrm>
          <a:prstGeom prst="ellipse">
            <a:avLst/>
          </a:prstGeom>
          <a:solidFill>
            <a:srgbClr val="A78BFA">
              <a:alpha val="3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251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41970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INSERT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4471416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doc_name, chunk_index, chunk_text,\nembedding VECTOR(768),\nsearch_vector TSVECTOR,\nmetadata JSONB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12070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Schema: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1572768"/>
            <a:ext cx="4023360" cy="2377440"/>
          </a:xfrm>
          <a:prstGeom prst="rect">
            <a:avLst/>
          </a:prstGeom>
          <a:solidFill>
            <a:srgbClr val="161A20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627632"/>
            <a:ext cx="3858768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document_chunks (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         SERIAL PRIMARY KEY,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doc_name     TEXT,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chunk_index  INTEGER,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chunk_text   TEXT,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embedding    VECTOR(768),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search_vector TSVECTOR,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metadata     JSONB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ON document_chunks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USING ivfflat (embedding vector_cosine_ops)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WITH (lists = 100);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ON document_chunks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USING GIN (search_vector);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4773168" y="406908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87568" y="4069080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gemini-embedding-001 (768-dim)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73168" y="433425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Norm: 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87568" y="433425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normalized — cosine = dot product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73168" y="459943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87568" y="4599432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(API limit: 1 per call)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73168" y="486460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87568" y="4864608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retrieval_document | retrieval_query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PIPELINE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4-Stage Hybrid Retrieval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261872"/>
            <a:ext cx="2057400" cy="3566160"/>
          </a:xfrm>
          <a:prstGeom prst="rect">
            <a:avLst/>
          </a:prstGeom>
          <a:solidFill>
            <a:srgbClr val="161A20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61872"/>
            <a:ext cx="20574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353312"/>
            <a:ext cx="594360" cy="594360"/>
          </a:xfrm>
          <a:prstGeom prst="ellipse">
            <a:avLst/>
          </a:prstGeom>
          <a:solidFill>
            <a:srgbClr val="38BDF8">
              <a:alpha val="28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3533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93192" y="2011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450592"/>
            <a:ext cx="190195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query with Gemini (retrieval_query task)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via pgvector &lt;=&gt; operator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similarity &gt; 0.12 threshold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top_k + 5 candidates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4572000"/>
            <a:ext cx="1783080" cy="256032"/>
          </a:xfrm>
          <a:prstGeom prst="roundRect">
            <a:avLst>
              <a:gd name="adj" fmla="val 17857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5720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65%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77440" y="3017520"/>
            <a:ext cx="11887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04872" y="2907792"/>
            <a:ext cx="109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496312" y="1261872"/>
            <a:ext cx="2057400" cy="3566160"/>
          </a:xfrm>
          <a:prstGeom prst="rect">
            <a:avLst/>
          </a:prstGeom>
          <a:solidFill>
            <a:srgbClr val="161A20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96312" y="1261872"/>
            <a:ext cx="20574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27832" y="1353312"/>
            <a:ext cx="594360" cy="594360"/>
          </a:xfrm>
          <a:prstGeom prst="ellipse">
            <a:avLst/>
          </a:prstGeom>
          <a:solidFill>
            <a:srgbClr val="10B981">
              <a:alpha val="28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27832" y="13533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569464" y="2011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Keyword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87752" y="2450592"/>
            <a:ext cx="190195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stopwords, extract 3+ char tokens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ts_rank on tsvector column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ILIKE when tsquery empty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top_k + 5 candidates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33472" y="4572000"/>
            <a:ext cx="1783080" cy="256032"/>
          </a:xfrm>
          <a:prstGeom prst="roundRect">
            <a:avLst>
              <a:gd name="adj" fmla="val 17857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33472" y="45720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35%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53712" y="3017520"/>
            <a:ext cx="11887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81144" y="2907792"/>
            <a:ext cx="109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72584" y="1261872"/>
            <a:ext cx="2057400" cy="3566160"/>
          </a:xfrm>
          <a:prstGeom prst="rect">
            <a:avLst/>
          </a:prstGeom>
          <a:solidFill>
            <a:srgbClr val="161A20"/>
          </a:solidFill>
          <a:ln w="1524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72584" y="1261872"/>
            <a:ext cx="20574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04104" y="1353312"/>
            <a:ext cx="594360" cy="594360"/>
          </a:xfrm>
          <a:prstGeom prst="ellipse">
            <a:avLst/>
          </a:prstGeom>
          <a:solidFill>
            <a:srgbClr val="A78BFA">
              <a:alpha val="28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04104" y="13533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745736" y="2011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Fusion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64024" y="2450592"/>
            <a:ext cx="190195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Fusion: score = Σ w/(rank+60)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weight 0.65, keyword weight 0.35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+0.15 bonus for chunks in BOTH result sets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&amp; sorted by fused score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9744" y="4572000"/>
            <a:ext cx="1783080" cy="256032"/>
          </a:xfrm>
          <a:prstGeom prst="roundRect">
            <a:avLst>
              <a:gd name="adj" fmla="val 17857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45720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+0.15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29984" y="3017520"/>
            <a:ext cx="11887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57416" y="2907792"/>
            <a:ext cx="109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848856" y="1261872"/>
            <a:ext cx="2057400" cy="3566160"/>
          </a:xfrm>
          <a:prstGeom prst="rect">
            <a:avLst/>
          </a:prstGeom>
          <a:solidFill>
            <a:srgbClr val="161A20"/>
          </a:solidFill>
          <a:ln w="1524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48856" y="1261872"/>
            <a:ext cx="20574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0376" y="1353312"/>
            <a:ext cx="594360" cy="594360"/>
          </a:xfrm>
          <a:prstGeom prst="ellipse">
            <a:avLst/>
          </a:prstGeom>
          <a:solidFill>
            <a:srgbClr val="6366F1">
              <a:alpha val="28000"/>
            </a:srgbClr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0376" y="13533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922008" y="2011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Rerank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40296" y="2450592"/>
            <a:ext cx="190195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Gemini 2.5 Flash LLM call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rank top_k+5 chunks by relevance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JSON array of 1-indexed positions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to RRF order if parse fails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986016" y="4572000"/>
            <a:ext cx="1783080" cy="256032"/>
          </a:xfrm>
          <a:prstGeom prst="roundRect">
            <a:avLst>
              <a:gd name="adj" fmla="val 17857"/>
            </a:avLst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86016" y="45720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top-k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 Diagram with MCP Message Passing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74320" y="1170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Document Upload 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36192"/>
            <a:ext cx="3840480" cy="548640"/>
          </a:xfrm>
          <a:prstGeom prst="rect">
            <a:avLst/>
          </a:prstGeom>
          <a:solidFill>
            <a:srgbClr val="F59E0B">
              <a:alpha val="17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581912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File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2084832"/>
            <a:ext cx="0" cy="109728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103120"/>
            <a:ext cx="3017520" cy="164592"/>
          </a:xfrm>
          <a:prstGeom prst="roundRect">
            <a:avLst>
              <a:gd name="adj" fmla="val 22222"/>
            </a:avLst>
          </a:prstGeom>
          <a:solidFill>
            <a:srgbClr val="1A1F26"/>
          </a:solidFill>
          <a:ln w="10160">
            <a:solidFill>
              <a:srgbClr val="2A31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12264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POST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3840480" cy="548640"/>
          </a:xfrm>
          <a:prstGeom prst="rect">
            <a:avLst/>
          </a:prstGeom>
          <a:solidFill>
            <a:srgbClr val="F59E0B">
              <a:alpha val="17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24028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/upload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94560" y="2743200"/>
            <a:ext cx="0" cy="109728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761488"/>
            <a:ext cx="3017520" cy="164592"/>
          </a:xfrm>
          <a:prstGeom prst="roundRect">
            <a:avLst>
              <a:gd name="adj" fmla="val 22222"/>
            </a:avLst>
          </a:prstGeom>
          <a:solidFill>
            <a:srgbClr val="1A1F26"/>
          </a:solidFill>
          <a:ln w="10160">
            <a:solidFill>
              <a:srgbClr val="2A31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770632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INGEST_REQUEST (MCP)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74320" y="2852928"/>
            <a:ext cx="3840480" cy="548640"/>
          </a:xfrm>
          <a:prstGeom prst="rect">
            <a:avLst/>
          </a:prstGeom>
          <a:solidFill>
            <a:srgbClr val="A78BFA">
              <a:alpha val="17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898648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mode='ingest'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94560" y="3401568"/>
            <a:ext cx="0" cy="109728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419856"/>
            <a:ext cx="3017520" cy="164592"/>
          </a:xfrm>
          <a:prstGeom prst="roundRect">
            <a:avLst>
              <a:gd name="adj" fmla="val 22222"/>
            </a:avLst>
          </a:prstGeom>
          <a:solidFill>
            <a:srgbClr val="1A1F26"/>
          </a:solidFill>
          <a:ln w="10160">
            <a:solidFill>
              <a:srgbClr val="2A31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429000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INGEST_RESULT (MCP)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74320" y="3511296"/>
            <a:ext cx="3840480" cy="548640"/>
          </a:xfrm>
          <a:prstGeom prst="rect">
            <a:avLst/>
          </a:prstGeom>
          <a:solidFill>
            <a:srgbClr val="10B981">
              <a:alpha val="17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557016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parse_document()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94560" y="4059936"/>
            <a:ext cx="0" cy="109728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4078224"/>
            <a:ext cx="3017520" cy="164592"/>
          </a:xfrm>
          <a:prstGeom prst="roundRect">
            <a:avLst>
              <a:gd name="adj" fmla="val 22222"/>
            </a:avLst>
          </a:prstGeom>
          <a:solidFill>
            <a:srgbClr val="1A1F26"/>
          </a:solidFill>
          <a:ln w="10160">
            <a:solidFill>
              <a:srgbClr val="2A31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087368"/>
            <a:ext cx="3017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 + pgvector INSERT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4169664"/>
            <a:ext cx="3840480" cy="548640"/>
          </a:xfrm>
          <a:prstGeom prst="rect">
            <a:avLst/>
          </a:prstGeom>
          <a:solidFill>
            <a:srgbClr val="38BDF8">
              <a:alpha val="17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4215384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NeonVectorStore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add_documents()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11704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Query Answer Flow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00600" y="1536192"/>
            <a:ext cx="3977640" cy="502920"/>
          </a:xfrm>
          <a:prstGeom prst="rect">
            <a:avLst/>
          </a:prstGeom>
          <a:solidFill>
            <a:srgbClr val="F59E0B">
              <a:alpha val="17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1563624"/>
            <a:ext cx="3858768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Question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784848" y="2039112"/>
            <a:ext cx="0" cy="86868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2135124"/>
            <a:ext cx="3977640" cy="502920"/>
          </a:xfrm>
          <a:prstGeom prst="rect">
            <a:avLst/>
          </a:prstGeom>
          <a:solidFill>
            <a:srgbClr val="F59E0B">
              <a:alpha val="17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2162556"/>
            <a:ext cx="3858768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/chat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784848" y="2638044"/>
            <a:ext cx="0" cy="86868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2734056"/>
            <a:ext cx="3977640" cy="502920"/>
          </a:xfrm>
          <a:prstGeom prst="rect">
            <a:avLst/>
          </a:prstGeom>
          <a:solidFill>
            <a:srgbClr val="A78BFA">
              <a:alpha val="17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2761488"/>
            <a:ext cx="3858768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CoordinatorAgent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mode='query'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784848" y="3236976"/>
            <a:ext cx="0" cy="86868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3332988"/>
            <a:ext cx="3977640" cy="530352"/>
          </a:xfrm>
          <a:prstGeom prst="rect">
            <a:avLst/>
          </a:prstGeom>
          <a:solidFill>
            <a:srgbClr val="38BDF8">
              <a:alpha val="17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3360420"/>
            <a:ext cx="3858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LLMAgent: resolve_followup()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RetrievalAgent: Vector+BM25+RRF+Rerank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784848" y="3863340"/>
            <a:ext cx="0" cy="86868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3931920"/>
            <a:ext cx="3977640" cy="530352"/>
          </a:xfrm>
          <a:prstGeom prst="rect">
            <a:avLst/>
          </a:prstGeom>
          <a:solidFill>
            <a:srgbClr val="6366F1">
              <a:alpha val="17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3959352"/>
            <a:ext cx="3858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LLMAgent: build_rag_prompt()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→ answer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784848" y="4462272"/>
            <a:ext cx="0" cy="86868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00600" y="4530852"/>
            <a:ext cx="3977640" cy="502920"/>
          </a:xfrm>
          <a:prstGeom prst="rect">
            <a:avLst/>
          </a:prstGeom>
          <a:solidFill>
            <a:srgbClr val="10B981">
              <a:alpha val="17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64608" y="4558284"/>
            <a:ext cx="3858768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+ Source Chunks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UI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Choices &amp; Rationale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2788920" cy="1828800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25880"/>
            <a:ext cx="27889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LLM &amp; Embeddings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84048" y="182880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Gemini 2.5 Flash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2020824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Answer generation, follow-up resolution, reranking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2231136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Gemini 2.0 Flash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42316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Vision OCR for scanned PDF pages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2633472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gemini-embedding-001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2825496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768-dim document &amp; query embeddings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18688" y="1325880"/>
            <a:ext cx="2788920" cy="1828800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1325880"/>
            <a:ext cx="27889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4173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Database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28416" y="182880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Neon PostgreSQL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28416" y="2020824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Serverless cloud Postgres with pgvector extension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28416" y="2231136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pgvector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28416" y="242316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IVFFlat index for fast ANN cosine search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28416" y="2633472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SQLAlchemy async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28416" y="2825496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Async session management, connection pooling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63056" y="1325880"/>
            <a:ext cx="2788920" cy="1828800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3056" y="1325880"/>
            <a:ext cx="278892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54496" y="14173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Backend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72784" y="182880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FastAPI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72784" y="2020824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REST endpoints: /upload /chat /evaluate /reset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72784" y="2231136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LangGraph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72784" y="242316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Agent state machine orchestration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72784" y="2633472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Pydantic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72784" y="2825496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MCPMessage schema validation &amp; serialization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337560"/>
            <a:ext cx="2788920" cy="1828800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337560"/>
            <a:ext cx="27889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29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Document Parsing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84048" y="384048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pypdf + PyMuPDF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4048" y="4032504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PDF text extraction + scanned page rendering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84048" y="4242816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python-pptx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84048" y="443484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PPTX slide text + speaker notes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84048" y="4645152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pandas + python-docx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84048" y="4837176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CSV, XLSX (all sheets), DOCX paragraphs &amp; tables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18688" y="3337560"/>
            <a:ext cx="2788920" cy="1828800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18688" y="3337560"/>
            <a:ext cx="2788920" cy="64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10128" y="3429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Frontend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3328416" y="384048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Vanilla JS + HTML/CSS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328416" y="4032504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Zero-dependency UI, 3-panel layout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328416" y="4242816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MCP Trace Panel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328416" y="443484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Real-time agent message visualization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328416" y="4645152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RAGAS Dashboard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328416" y="4837176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Faithfulness / Relevancy / Precision bars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3-Panel Dark-Theme React UI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70432"/>
            <a:ext cx="2560320" cy="3749040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70432"/>
            <a:ext cx="2560320" cy="384048"/>
          </a:xfrm>
          <a:prstGeom prst="rect">
            <a:avLst/>
          </a:prstGeom>
          <a:solidFill>
            <a:srgbClr val="111418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88720"/>
            <a:ext cx="23591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Documents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02336" y="1627632"/>
            <a:ext cx="2304288" cy="1005840"/>
          </a:xfrm>
          <a:prstGeom prst="rect">
            <a:avLst/>
          </a:prstGeom>
          <a:solidFill>
            <a:srgbClr val="0E1116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682496"/>
            <a:ext cx="23042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Drag &amp; Drop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PPTX · CSV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 · DOCX · TXT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02336" y="2724912"/>
            <a:ext cx="2304288" cy="347472"/>
          </a:xfrm>
          <a:prstGeom prst="rect">
            <a:avLst/>
          </a:prstGeom>
          <a:solidFill>
            <a:srgbClr val="111418"/>
          </a:solidFill>
          <a:ln w="10160">
            <a:solidFill>
              <a:srgbClr val="2A31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743200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report.pdf  ·  14 chunks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02336" y="3136392"/>
            <a:ext cx="2304288" cy="347472"/>
          </a:xfrm>
          <a:prstGeom prst="rect">
            <a:avLst/>
          </a:prstGeom>
          <a:solidFill>
            <a:srgbClr val="111418"/>
          </a:solidFill>
          <a:ln w="10160">
            <a:solidFill>
              <a:srgbClr val="2A31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154680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sales.csv  ·  6 chunks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02336" y="3547872"/>
            <a:ext cx="2304288" cy="347472"/>
          </a:xfrm>
          <a:prstGeom prst="rect">
            <a:avLst/>
          </a:prstGeom>
          <a:solidFill>
            <a:srgbClr val="111418"/>
          </a:solidFill>
          <a:ln w="10160">
            <a:solidFill>
              <a:srgbClr val="2A31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566160"/>
            <a:ext cx="21762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deck.pptx  ·  22 chunks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017520" y="1170432"/>
            <a:ext cx="2971800" cy="3749040"/>
          </a:xfrm>
          <a:prstGeom prst="rect">
            <a:avLst/>
          </a:prstGeom>
          <a:solidFill>
            <a:srgbClr val="161A20"/>
          </a:solidFill>
          <a:ln w="15240">
            <a:solidFill>
              <a:srgbClr val="6366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0" y="1170432"/>
            <a:ext cx="2971800" cy="384048"/>
          </a:xfrm>
          <a:prstGeom prst="rect">
            <a:avLst/>
          </a:prstGeom>
          <a:solidFill>
            <a:srgbClr val="111418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27248" y="118872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Conversation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0" y="1664208"/>
            <a:ext cx="2011680" cy="475488"/>
          </a:xfrm>
          <a:prstGeom prst="roundRect">
            <a:avLst>
              <a:gd name="adj" fmla="val 2307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58768" y="1700784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KPIs were tracked in Q1?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090672" y="2240280"/>
            <a:ext cx="2331720" cy="713232"/>
          </a:xfrm>
          <a:prstGeom prst="roundRect">
            <a:avLst>
              <a:gd name="adj" fmla="val 15385"/>
            </a:avLst>
          </a:prstGeom>
          <a:solidFill>
            <a:srgbClr val="111418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63824" y="2286000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Q1 report: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grew 14%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CAC decreased 8%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NPS score: 78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090672" y="299923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report.pdf | p.3  📊 metrics.csv | r.1-5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017520" y="4462272"/>
            <a:ext cx="2971800" cy="457200"/>
          </a:xfrm>
          <a:prstGeom prst="rect">
            <a:avLst/>
          </a:prstGeom>
          <a:solidFill>
            <a:srgbClr val="111418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08960" y="4535424"/>
            <a:ext cx="2103120" cy="274320"/>
          </a:xfrm>
          <a:prstGeom prst="rect">
            <a:avLst/>
          </a:prstGeom>
          <a:solidFill>
            <a:srgbClr val="0E1116"/>
          </a:solidFill>
          <a:ln w="10160">
            <a:solidFill>
              <a:srgbClr val="2A31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57800" y="4535424"/>
            <a:ext cx="640080" cy="27432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45445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›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144768" y="1170432"/>
            <a:ext cx="2724912" cy="3749040"/>
          </a:xfrm>
          <a:prstGeom prst="rect">
            <a:avLst/>
          </a:prstGeom>
          <a:solidFill>
            <a:srgbClr val="161A20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44768" y="1170432"/>
            <a:ext cx="2724912" cy="384048"/>
          </a:xfrm>
          <a:prstGeom prst="rect">
            <a:avLst/>
          </a:prstGeom>
          <a:solidFill>
            <a:srgbClr val="111418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6208" y="1188720"/>
            <a:ext cx="2542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MCP Trace  |  📊 RAG Health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36208" y="1664208"/>
            <a:ext cx="2542032" cy="301752"/>
          </a:xfrm>
          <a:prstGeom prst="rect">
            <a:avLst/>
          </a:prstGeom>
          <a:solidFill>
            <a:srgbClr val="161A20"/>
          </a:solidFill>
          <a:ln w="7620">
            <a:solidFill>
              <a:srgbClr val="2A31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23760" y="1700784"/>
            <a:ext cx="1481328" cy="201168"/>
          </a:xfrm>
          <a:prstGeom prst="roundRect">
            <a:avLst>
              <a:gd name="adj" fmla="val 18182"/>
            </a:avLst>
          </a:prstGeom>
          <a:solidFill>
            <a:srgbClr val="10B981">
              <a:alpha val="20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17190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Coord→Ingestion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223760" y="1709928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INGEST_REQUEST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236208" y="2029968"/>
            <a:ext cx="2542032" cy="301752"/>
          </a:xfrm>
          <a:prstGeom prst="rect">
            <a:avLst/>
          </a:prstGeom>
          <a:solidFill>
            <a:srgbClr val="161A20"/>
          </a:solidFill>
          <a:ln w="7620">
            <a:solidFill>
              <a:srgbClr val="2A31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0" y="2066544"/>
            <a:ext cx="1481328" cy="201168"/>
          </a:xfrm>
          <a:prstGeom prst="roundRect">
            <a:avLst>
              <a:gd name="adj" fmla="val 18182"/>
            </a:avLst>
          </a:prstGeom>
          <a:solidFill>
            <a:srgbClr val="10B981">
              <a:alpha val="20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208483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Ingestion→Coord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7223760" y="2075688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INGEST_RESULT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236208" y="2395728"/>
            <a:ext cx="2542032" cy="301752"/>
          </a:xfrm>
          <a:prstGeom prst="rect">
            <a:avLst/>
          </a:prstGeom>
          <a:solidFill>
            <a:srgbClr val="161A20"/>
          </a:solidFill>
          <a:ln w="7620">
            <a:solidFill>
              <a:srgbClr val="2A31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23760" y="2432304"/>
            <a:ext cx="1481328" cy="201168"/>
          </a:xfrm>
          <a:prstGeom prst="roundRect">
            <a:avLst>
              <a:gd name="adj" fmla="val 18182"/>
            </a:avLst>
          </a:prstGeom>
          <a:solidFill>
            <a:srgbClr val="38BDF8">
              <a:alpha val="20000"/>
            </a:srgbClr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24505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Coord→Retrieval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223760" y="2441448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RETRIEVAL_REQUEST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236208" y="2761488"/>
            <a:ext cx="2542032" cy="301752"/>
          </a:xfrm>
          <a:prstGeom prst="rect">
            <a:avLst/>
          </a:prstGeom>
          <a:solidFill>
            <a:srgbClr val="161A20"/>
          </a:solidFill>
          <a:ln w="7620">
            <a:solidFill>
              <a:srgbClr val="2A313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23760" y="2798064"/>
            <a:ext cx="1481328" cy="201168"/>
          </a:xfrm>
          <a:prstGeom prst="roundRect">
            <a:avLst>
              <a:gd name="adj" fmla="val 18182"/>
            </a:avLst>
          </a:prstGeom>
          <a:solidFill>
            <a:srgbClr val="38BDF8">
              <a:alpha val="20000"/>
            </a:srgbClr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28163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Retrieval→LLM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7223760" y="2807208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RETRIEVAL_RESULT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236208" y="3127248"/>
            <a:ext cx="2542032" cy="301752"/>
          </a:xfrm>
          <a:prstGeom prst="rect">
            <a:avLst/>
          </a:prstGeom>
          <a:solidFill>
            <a:srgbClr val="161A20"/>
          </a:solidFill>
          <a:ln w="7620">
            <a:solidFill>
              <a:srgbClr val="2A313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23760" y="3163824"/>
            <a:ext cx="1481328" cy="201168"/>
          </a:xfrm>
          <a:prstGeom prst="roundRect">
            <a:avLst>
              <a:gd name="adj" fmla="val 18182"/>
            </a:avLst>
          </a:prstGeom>
          <a:solidFill>
            <a:srgbClr val="6366F1">
              <a:alpha val="20000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3182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Coord→LLM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7223760" y="3172968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LLM_REQUEST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236208" y="3493008"/>
            <a:ext cx="2542032" cy="301752"/>
          </a:xfrm>
          <a:prstGeom prst="rect">
            <a:avLst/>
          </a:prstGeom>
          <a:solidFill>
            <a:srgbClr val="161A20"/>
          </a:solidFill>
          <a:ln w="7620">
            <a:solidFill>
              <a:srgbClr val="2A313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223760" y="3529584"/>
            <a:ext cx="1481328" cy="201168"/>
          </a:xfrm>
          <a:prstGeom prst="roundRect">
            <a:avLst>
              <a:gd name="adj" fmla="val 18182"/>
            </a:avLst>
          </a:prstGeom>
          <a:solidFill>
            <a:srgbClr val="6366F1">
              <a:alpha val="20000"/>
            </a:srgbClr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35478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LLM→Coord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223760" y="3538728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LLM_RESPONSE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6236208" y="385876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333488" y="3895344"/>
            <a:ext cx="1261872" cy="164592"/>
          </a:xfrm>
          <a:prstGeom prst="rect">
            <a:avLst/>
          </a:prstGeom>
          <a:solidFill>
            <a:srgbClr val="1A1F26"/>
          </a:solidFill>
          <a:ln w="7620">
            <a:solidFill>
              <a:srgbClr val="2A313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33488" y="3895344"/>
            <a:ext cx="116092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13648" y="385876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236208" y="413308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Ans. Relevancy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333488" y="4169664"/>
            <a:ext cx="1261872" cy="164592"/>
          </a:xfrm>
          <a:prstGeom prst="rect">
            <a:avLst/>
          </a:prstGeom>
          <a:solidFill>
            <a:srgbClr val="1A1F26"/>
          </a:solidFill>
          <a:ln w="7620">
            <a:solidFill>
              <a:srgbClr val="2A313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33488" y="4169664"/>
            <a:ext cx="1110447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613648" y="413308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236208" y="440740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Ctx. Precision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333488" y="4443984"/>
            <a:ext cx="1261872" cy="164592"/>
          </a:xfrm>
          <a:prstGeom prst="rect">
            <a:avLst/>
          </a:prstGeom>
          <a:solidFill>
            <a:srgbClr val="1A1F26"/>
          </a:solidFill>
          <a:ln w="7620">
            <a:solidFill>
              <a:srgbClr val="2A313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33488" y="4443984"/>
            <a:ext cx="1072591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613648" y="440740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74320" y="4809744"/>
            <a:ext cx="2057400" cy="256032"/>
          </a:xfrm>
          <a:prstGeom prst="roundRect">
            <a:avLst>
              <a:gd name="adj" fmla="val 21429"/>
            </a:avLst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4320" y="4818888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Multi-turn Memory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496312" y="4809744"/>
            <a:ext cx="205740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496312" y="4818888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Source Citations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718304" y="4809744"/>
            <a:ext cx="2057400" cy="256032"/>
          </a:xfrm>
          <a:prstGeom prst="roundRect">
            <a:avLst>
              <a:gd name="adj" fmla="val 21429"/>
            </a:avLst>
          </a:prstGeom>
          <a:solidFill>
            <a:srgbClr val="6366F1">
              <a:alpha val="1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18304" y="4818888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Follow-up Resolution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940296" y="4809744"/>
            <a:ext cx="2057400" cy="256032"/>
          </a:xfrm>
          <a:prstGeom prst="roundRect">
            <a:avLst>
              <a:gd name="adj" fmla="val 21429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940296" y="4818888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RAGAS Auto-Eval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RAGAS-Inspired Quality Metrics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298448"/>
            <a:ext cx="4251960" cy="1664208"/>
          </a:xfrm>
          <a:prstGeom prst="rect">
            <a:avLst/>
          </a:prstGeom>
          <a:solidFill>
            <a:srgbClr val="161A20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98448"/>
            <a:ext cx="42519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426464"/>
            <a:ext cx="804672" cy="804672"/>
          </a:xfrm>
          <a:prstGeom prst="ellipse">
            <a:avLst/>
          </a:prstGeom>
          <a:solidFill>
            <a:srgbClr val="10B981">
              <a:alpha val="28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26464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408176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280160" y="1801368"/>
            <a:ext cx="3127248" cy="128016"/>
          </a:xfrm>
          <a:prstGeom prst="rect">
            <a:avLst/>
          </a:prstGeom>
          <a:solidFill>
            <a:srgbClr val="1A1F26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1801368"/>
            <a:ext cx="2877068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286000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Are ALL answer claims grounded in retrieved context?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2578608"/>
            <a:ext cx="4041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Gemini counts supported claims vs unsupported hallucinations.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36592" y="1298448"/>
            <a:ext cx="4251960" cy="1664208"/>
          </a:xfrm>
          <a:prstGeom prst="rect">
            <a:avLst/>
          </a:prstGeom>
          <a:solidFill>
            <a:srgbClr val="161A20"/>
          </a:solidFill>
          <a:ln w="1524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36592" y="1298448"/>
            <a:ext cx="425196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426464"/>
            <a:ext cx="804672" cy="804672"/>
          </a:xfrm>
          <a:prstGeom prst="ellipse">
            <a:avLst/>
          </a:prstGeom>
          <a:solidFill>
            <a:srgbClr val="38BDF8">
              <a:alpha val="28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426464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742432" y="1408176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742432" y="1801368"/>
            <a:ext cx="3127248" cy="128016"/>
          </a:xfrm>
          <a:prstGeom prst="rect">
            <a:avLst/>
          </a:prstGeom>
          <a:solidFill>
            <a:srgbClr val="1A1F26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42432" y="1801368"/>
            <a:ext cx="2751978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286000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Does the answer directly address the user question?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0" y="2578608"/>
            <a:ext cx="4041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Gemini rates how well the answer covers the question's intent.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127248"/>
            <a:ext cx="4251960" cy="1664208"/>
          </a:xfrm>
          <a:prstGeom prst="rect">
            <a:avLst/>
          </a:prstGeom>
          <a:solidFill>
            <a:srgbClr val="161A20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127248"/>
            <a:ext cx="4251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3255264"/>
            <a:ext cx="804672" cy="804672"/>
          </a:xfrm>
          <a:prstGeom prst="ellipse">
            <a:avLst/>
          </a:prstGeom>
          <a:solidFill>
            <a:srgbClr val="F59E0B">
              <a:alpha val="28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255264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3236976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280160" y="3630168"/>
            <a:ext cx="3127248" cy="128016"/>
          </a:xfrm>
          <a:prstGeom prst="rect">
            <a:avLst/>
          </a:prstGeom>
          <a:solidFill>
            <a:srgbClr val="1A1F26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80160" y="3630168"/>
            <a:ext cx="2658161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4114800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Are the retrieved chunks relevant to the question?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84048" y="4407408"/>
            <a:ext cx="4041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Gemini evaluates if retrieved chunks actually contain useful info.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36592" y="3127248"/>
            <a:ext cx="4251960" cy="1664208"/>
          </a:xfrm>
          <a:prstGeom prst="rect">
            <a:avLst/>
          </a:prstGeom>
          <a:solidFill>
            <a:srgbClr val="161A20"/>
          </a:solidFill>
          <a:ln w="1524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36592" y="3127248"/>
            <a:ext cx="425196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3255264"/>
            <a:ext cx="804672" cy="804672"/>
          </a:xfrm>
          <a:prstGeom prst="ellipse">
            <a:avLst/>
          </a:prstGeom>
          <a:solidFill>
            <a:srgbClr val="A78BFA">
              <a:alpha val="28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255264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742432" y="3236976"/>
            <a:ext cx="31272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(avg)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742432" y="3630168"/>
            <a:ext cx="3127248" cy="128016"/>
          </a:xfrm>
          <a:prstGeom prst="rect">
            <a:avLst/>
          </a:prstGeom>
          <a:solidFill>
            <a:srgbClr val="1A1F26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42432" y="3630168"/>
            <a:ext cx="2761360" cy="12801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4114800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Arithmetic mean of the three metrics above.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46320" y="4407408"/>
            <a:ext cx="4041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Single number for at-a-glance health monitoring.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Single Gemini 2.5 Flash call with question + answer + retrieved chunks → returns 3 decimal scores → parsed &amp; rendered live in UI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Faced &amp; Solutions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261872"/>
            <a:ext cx="2798064" cy="1737360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61872"/>
            <a:ext cx="2798064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53312"/>
            <a:ext cx="411480" cy="411480"/>
          </a:xfrm>
          <a:prstGeom prst="ellipse">
            <a:avLst/>
          </a:prstGeom>
          <a:solidFill>
            <a:srgbClr val="EF4444">
              <a:alpha val="2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533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3898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PDF OCR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810512"/>
            <a:ext cx="2633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pypdf returned &lt;80 chars of garbled text for scanned PDFs. Digital text and scanned pages needed separate handling.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2633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PyMuPDF renders pages at 200 DPI → Gemini Vision OCR extracts text. Sliding window then chunks long OCR output.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18688" y="1261872"/>
            <a:ext cx="2798064" cy="1737360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261872"/>
            <a:ext cx="2798064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0128" y="1353312"/>
            <a:ext cx="411480" cy="411480"/>
          </a:xfrm>
          <a:prstGeom prst="ellipse">
            <a:avLst/>
          </a:prstGeom>
          <a:solidFill>
            <a:srgbClr val="F59E0B">
              <a:alpha val="2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3533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13048" y="13898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in Sync Context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1810512"/>
            <a:ext cx="2633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LangGraph nodes run synchronously but NeonVectorStore uses async SQLAlchemy. asyncio.run() failed when a loop was running.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10128" y="2377440"/>
            <a:ext cx="2633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_run_async() detects a running loop and uses ThreadPoolExecutor to run asyncio.run() in a fresh thread.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63056" y="1261872"/>
            <a:ext cx="2798064" cy="1737360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63056" y="1261872"/>
            <a:ext cx="2798064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54496" y="1353312"/>
            <a:ext cx="411480" cy="411480"/>
          </a:xfrm>
          <a:prstGeom prst="ellipse">
            <a:avLst/>
          </a:prstGeom>
          <a:solidFill>
            <a:srgbClr val="38BDF8">
              <a:alpha val="2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13533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57416" y="13898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54496" y="1810512"/>
            <a:ext cx="2633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Pure cosine similarity returned semantically close but not always the most answer-relevant chunks for complex queries.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54496" y="2377440"/>
            <a:ext cx="2633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4-stage pipeline: Vector + BM25 + RRF fusion + Gemini rerank. Overlap bonus of +0.15 for chunks in both result sets.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136392"/>
            <a:ext cx="2798064" cy="1737360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136392"/>
            <a:ext cx="2798064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227832"/>
            <a:ext cx="411480" cy="411480"/>
          </a:xfrm>
          <a:prstGeom prst="ellipse">
            <a:avLst/>
          </a:prstGeom>
          <a:solidFill>
            <a:srgbClr val="A78BFA">
              <a:alpha val="28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27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32644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Resolution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3685032"/>
            <a:ext cx="2633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Users ask 'What about Q2?' without repeating context. Naive retrieval would embed the vague follow-up and miss.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4251960"/>
            <a:ext cx="2633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is_followup() detects pronouns/continuations. build_followup_resolver_prompt() rewrites query with full context via Gemini.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18688" y="3136392"/>
            <a:ext cx="2798064" cy="1737360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18688" y="3136392"/>
            <a:ext cx="2798064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10128" y="3227832"/>
            <a:ext cx="411480" cy="411480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0128" y="3227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813048" y="32644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Score Parsing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310128" y="3685032"/>
            <a:ext cx="2633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EvaluationAgent prompts Gemini to return '0.95,0.88,0.72'. But Gemini sometimes wraps in prose or code blocks.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10128" y="4251960"/>
            <a:ext cx="2633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Two-pass regex: first matches 0.X+ patterns; fallback matches any numeric token. Clamps all values to [0.0, 1.0].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63056" y="3136392"/>
            <a:ext cx="2798064" cy="1737360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63056" y="3136392"/>
            <a:ext cx="2798064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54496" y="3227832"/>
            <a:ext cx="411480" cy="411480"/>
          </a:xfrm>
          <a:prstGeom prst="ellipse">
            <a:avLst/>
          </a:prstGeom>
          <a:solidFill>
            <a:srgbClr val="6366F1">
              <a:alpha val="2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54496" y="3227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57416" y="32644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Trace Integrity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254496" y="3685032"/>
            <a:ext cx="2633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Multiple agents publish to the shared bus concurrently. Without synchronization, trace lists could get corrupted.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54496" y="4251960"/>
            <a:ext cx="2633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threading.Lock() in MCPBus.publish() and get_trace() ensures atomic read/write. Per trace_id dict for isolation.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Enhancements &amp;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261872"/>
            <a:ext cx="2029968" cy="1664208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1353312"/>
            <a:ext cx="621792" cy="621792"/>
          </a:xfrm>
          <a:prstGeom prst="ellipse">
            <a:avLst/>
          </a:prstGeom>
          <a:solidFill>
            <a:srgbClr val="38BDF8">
              <a:alpha val="22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35331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47472" y="2039112"/>
            <a:ext cx="1901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Auth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2359152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per-user session isolation, document-level access control &amp; sharing.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450592" y="1261872"/>
            <a:ext cx="2029968" cy="1664208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63824" y="1353312"/>
            <a:ext cx="621792" cy="621792"/>
          </a:xfrm>
          <a:prstGeom prst="ellipse">
            <a:avLst/>
          </a:prstGeom>
          <a:solidFill>
            <a:srgbClr val="10B981">
              <a:alpha val="22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63824" y="135331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23744" y="2039112"/>
            <a:ext cx="1901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MCP (REST/SSE)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23744" y="2359152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in-memory bus with REST or Server-Sent Events for cross-process agents.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626864" y="1261872"/>
            <a:ext cx="2029968" cy="1664208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40096" y="1353312"/>
            <a:ext cx="621792" cy="621792"/>
          </a:xfrm>
          <a:prstGeom prst="ellipse">
            <a:avLst/>
          </a:prstGeom>
          <a:solidFill>
            <a:srgbClr val="A78BFA">
              <a:alpha val="22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0096" y="135331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🎙️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00016" y="2039112"/>
            <a:ext cx="1901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Q&amp;A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0016" y="2359152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STT → RAG pipeline → TTS output for voice-first document querying.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803136" y="1261872"/>
            <a:ext cx="2029968" cy="1664208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16368" y="1353312"/>
            <a:ext cx="621792" cy="621792"/>
          </a:xfrm>
          <a:prstGeom prst="ellipse">
            <a:avLst/>
          </a:prstGeom>
          <a:solidFill>
            <a:srgbClr val="F59E0B">
              <a:alpha val="22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16368" y="135331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76288" y="2039112"/>
            <a:ext cx="1901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76288" y="2359152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Per-document query heatmaps, popular topics, avg RAGAS scores over time.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274320" y="3090672"/>
            <a:ext cx="2029968" cy="1664208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87552" y="3182112"/>
            <a:ext cx="621792" cy="621792"/>
          </a:xfrm>
          <a:prstGeom prst="ellipse">
            <a:avLst/>
          </a:prstGeom>
          <a:solidFill>
            <a:srgbClr val="6366F1">
              <a:alpha val="22000"/>
            </a:srgbClr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318211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47472" y="3867912"/>
            <a:ext cx="1901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Answers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7472" y="4187952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streaming from Gemini → frontend renders tokens as they arrive, not all at once.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2450592" y="3090672"/>
            <a:ext cx="2029968" cy="1664208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63824" y="3182112"/>
            <a:ext cx="621792" cy="621792"/>
          </a:xfrm>
          <a:prstGeom prst="ellipse">
            <a:avLst/>
          </a:prstGeom>
          <a:solidFill>
            <a:srgbClr val="EF4444">
              <a:alpha val="22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63824" y="318211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2523744" y="3867912"/>
            <a:ext cx="1901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 Reasoning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23744" y="4187952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approach — build entity graph across docs for cross-document QA.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4626864" y="3090672"/>
            <a:ext cx="2029968" cy="1664208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340096" y="3182112"/>
            <a:ext cx="621792" cy="621792"/>
          </a:xfrm>
          <a:prstGeom prst="ellipse">
            <a:avLst/>
          </a:prstGeom>
          <a:solidFill>
            <a:srgbClr val="38BDF8">
              <a:alpha val="22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40096" y="318211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700016" y="3867912"/>
            <a:ext cx="1901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Embeddings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00016" y="4187952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fine-tuned embedding model for higher precision in vertical markets.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6803136" y="3090672"/>
            <a:ext cx="2029968" cy="1664208"/>
          </a:xfrm>
          <a:prstGeom prst="rect">
            <a:avLst/>
          </a:prstGeom>
          <a:solidFill>
            <a:srgbClr val="161A20"/>
          </a:solidFill>
          <a:ln w="15240">
            <a:solidFill>
              <a:srgbClr val="2A313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516368" y="3182112"/>
            <a:ext cx="621792" cy="621792"/>
          </a:xfrm>
          <a:prstGeom prst="ellipse">
            <a:avLst/>
          </a:prstGeom>
          <a:solidFill>
            <a:srgbClr val="10B981">
              <a:alpha val="22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16368" y="318211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876288" y="3867912"/>
            <a:ext cx="1901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76288" y="4187952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app with offline chunking, on-device small LLM for quick answers.</a:t>
            </a:r>
            <a:endParaRPr lang="en-US" sz="8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38BDF8">
              <a:alpha val="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972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Chatbot · Model Context Protocol · LangGraph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816352"/>
            <a:ext cx="1417320" cy="713232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8346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68096" y="3182112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Specialized Agents via LangGraph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304288" y="2816352"/>
            <a:ext cx="1417320" cy="713232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04288" y="28346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340864" y="3182112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MCP Message Bus with Trace IDs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877056" y="2816352"/>
            <a:ext cx="1417320" cy="713232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77056" y="28346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913632" y="3182112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4-Stage Hybrid Retrieval (Vector + BM25 + RRF + Rerank)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449824" y="2816352"/>
            <a:ext cx="1417320" cy="713232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9824" y="28346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0" y="3182112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RAGAS Evaluation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022592" y="2816352"/>
            <a:ext cx="1417320" cy="713232"/>
          </a:xfrm>
          <a:prstGeom prst="rect">
            <a:avLst/>
          </a:prstGeom>
          <a:solidFill>
            <a:srgbClr val="161A20"/>
          </a:solidFill>
          <a:ln w="12700">
            <a:solidFill>
              <a:srgbClr val="2A31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2592" y="28346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59168" y="3182112"/>
            <a:ext cx="1353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0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Document Formats Supported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Gemini 2.5 Flash · Neon pgvector · FastAPI · LangGraph · Python-PPTX · PyMuPDF · Pandas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discuss the architecture!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RAG Chatbot — MCP Architecture</dc:title>
  <dc:subject>PptxGenJS Presentation</dc:subject>
  <dc:creator>Candidate</dc:creator>
  <cp:lastModifiedBy>Candidate</cp:lastModifiedBy>
  <cp:revision>1</cp:revision>
  <dcterms:created xsi:type="dcterms:W3CDTF">2026-05-01T06:42:05Z</dcterms:created>
  <dcterms:modified xsi:type="dcterms:W3CDTF">2026-05-01T06:42:05Z</dcterms:modified>
</cp:coreProperties>
</file>